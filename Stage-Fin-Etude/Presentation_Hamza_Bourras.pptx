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71" r:id="rId5"/>
    <p:sldId id="262" r:id="rId6"/>
    <p:sldId id="272" r:id="rId7"/>
    <p:sldId id="274" r:id="rId8"/>
    <p:sldId id="275" r:id="rId9"/>
    <p:sldId id="276" r:id="rId10"/>
    <p:sldId id="277" r:id="rId11"/>
    <p:sldId id="278" r:id="rId12"/>
    <p:sldId id="270" r:id="rId13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bin" panose="020B0604020202020204" charset="0"/>
      <p:regular r:id="rId19"/>
      <p:bold r:id="rId20"/>
      <p:italic r:id="rId21"/>
      <p:boldItalic r:id="rId22"/>
    </p:embeddedFont>
    <p:embeddedFont>
      <p:font typeface="Sora" panose="020B060402020202020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64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1B40D-73B8-4C9D-A594-C9FB34D1A418}" type="datetimeFigureOut">
              <a:rPr lang="fr-FR" smtClean="0"/>
              <a:t>05/06/2024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A9517-F482-4C80-B3BD-E47FB56AE1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167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6A9517-F482-4C80-B3BD-E47FB56AE19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186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25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5.png"/><Relationship Id="rId7" Type="http://schemas.openxmlformats.org/officeDocument/2006/relationships/image" Target="../media/image4.png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25.sv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91761">
            <a:off x="-7182938" y="2476529"/>
            <a:ext cx="9267406" cy="12492827"/>
          </a:xfrm>
          <a:custGeom>
            <a:avLst/>
            <a:gdLst/>
            <a:ahLst/>
            <a:cxnLst/>
            <a:rect l="l" t="t" r="r" b="b"/>
            <a:pathLst>
              <a:path w="9267406" h="12492827">
                <a:moveTo>
                  <a:pt x="0" y="0"/>
                </a:moveTo>
                <a:lnTo>
                  <a:pt x="9267406" y="0"/>
                </a:lnTo>
                <a:lnTo>
                  <a:pt x="9267406" y="12492827"/>
                </a:lnTo>
                <a:lnTo>
                  <a:pt x="0" y="124928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77861" y="-6360927"/>
            <a:ext cx="8968224" cy="8634892"/>
          </a:xfrm>
          <a:custGeom>
            <a:avLst/>
            <a:gdLst/>
            <a:ahLst/>
            <a:cxnLst/>
            <a:rect l="l" t="t" r="r" b="b"/>
            <a:pathLst>
              <a:path w="8968224" h="8634892">
                <a:moveTo>
                  <a:pt x="0" y="0"/>
                </a:moveTo>
                <a:lnTo>
                  <a:pt x="8968224" y="0"/>
                </a:lnTo>
                <a:lnTo>
                  <a:pt x="8968224" y="8634891"/>
                </a:lnTo>
                <a:lnTo>
                  <a:pt x="0" y="8634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147143" y="8608101"/>
            <a:ext cx="2281713" cy="2196906"/>
          </a:xfrm>
          <a:custGeom>
            <a:avLst/>
            <a:gdLst/>
            <a:ahLst/>
            <a:cxnLst/>
            <a:rect l="l" t="t" r="r" b="b"/>
            <a:pathLst>
              <a:path w="2281713" h="2196906">
                <a:moveTo>
                  <a:pt x="0" y="0"/>
                </a:moveTo>
                <a:lnTo>
                  <a:pt x="2281714" y="0"/>
                </a:lnTo>
                <a:lnTo>
                  <a:pt x="2281714" y="2196907"/>
                </a:lnTo>
                <a:lnTo>
                  <a:pt x="0" y="2196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519446" y="6808751"/>
            <a:ext cx="4634548" cy="396043"/>
          </a:xfrm>
          <a:custGeom>
            <a:avLst/>
            <a:gdLst/>
            <a:ahLst/>
            <a:cxnLst/>
            <a:rect l="l" t="t" r="r" b="b"/>
            <a:pathLst>
              <a:path w="4634548" h="396043">
                <a:moveTo>
                  <a:pt x="0" y="0"/>
                </a:moveTo>
                <a:lnTo>
                  <a:pt x="4634547" y="0"/>
                </a:lnTo>
                <a:lnTo>
                  <a:pt x="4634547" y="396043"/>
                </a:lnTo>
                <a:lnTo>
                  <a:pt x="0" y="3960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Google Shape;294;p28"/>
          <p:cNvSpPr txBox="1">
            <a:spLocks/>
          </p:cNvSpPr>
          <p:nvPr/>
        </p:nvSpPr>
        <p:spPr>
          <a:xfrm>
            <a:off x="1" y="3193674"/>
            <a:ext cx="17955490" cy="3355616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150000"/>
              </a:lnSpc>
            </a:pPr>
            <a:r>
              <a:rPr lang="fr-FR" sz="7200" dirty="0">
                <a:solidFill>
                  <a:prstClr val="black"/>
                </a:solidFill>
                <a:latin typeface="Sora" panose="020B0604020202020204" charset="0"/>
                <a:cs typeface="Sora" panose="020B0604020202020204" charset="0"/>
                <a:sym typeface="Arial"/>
              </a:rPr>
              <a:t>Application web de gestion de projets pour </a:t>
            </a:r>
            <a:r>
              <a:rPr lang="fr-FR" sz="7200" dirty="0" smtClean="0">
                <a:solidFill>
                  <a:prstClr val="black"/>
                </a:solidFill>
                <a:latin typeface="Sora" panose="020B0604020202020204" charset="0"/>
                <a:cs typeface="Sora" panose="020B0604020202020204" charset="0"/>
                <a:sym typeface="Arial"/>
              </a:rPr>
              <a:t>une société d’architectes</a:t>
            </a:r>
            <a:endParaRPr lang="fr-FR" sz="7200" dirty="0">
              <a:solidFill>
                <a:prstClr val="black"/>
              </a:solidFill>
              <a:latin typeface="Sora" panose="020B0604020202020204" charset="0"/>
              <a:cs typeface="Sora" panose="020B0604020202020204" charset="0"/>
              <a:sym typeface="Arial"/>
            </a:endParaRPr>
          </a:p>
        </p:txBody>
      </p:sp>
      <p:sp>
        <p:nvSpPr>
          <p:cNvPr id="29" name="Google Shape;295;p28"/>
          <p:cNvSpPr txBox="1">
            <a:spLocks/>
          </p:cNvSpPr>
          <p:nvPr/>
        </p:nvSpPr>
        <p:spPr>
          <a:xfrm>
            <a:off x="2182719" y="7457936"/>
            <a:ext cx="5520410" cy="1921592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171450" indent="-17145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-142875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50000"/>
              </a:lnSpc>
              <a:buNone/>
            </a:pPr>
            <a:r>
              <a:rPr lang="fr-MA" sz="2800" b="1" dirty="0">
                <a:solidFill>
                  <a:prstClr val="black"/>
                </a:solidFill>
                <a:latin typeface="Sora" panose="020B0604020202020204" charset="0"/>
                <a:cs typeface="Sora" panose="020B0604020202020204" charset="0"/>
                <a:sym typeface="Arial"/>
              </a:rPr>
              <a:t>Réalisé par :</a:t>
            </a:r>
          </a:p>
          <a:p>
            <a:pPr marL="0" indent="0" defTabSz="914400">
              <a:lnSpc>
                <a:spcPct val="150000"/>
              </a:lnSpc>
              <a:spcBef>
                <a:spcPts val="0"/>
              </a:spcBef>
              <a:buNone/>
            </a:pPr>
            <a:r>
              <a:rPr lang="fr-MA" sz="2800" dirty="0">
                <a:solidFill>
                  <a:prstClr val="black"/>
                </a:solidFill>
                <a:latin typeface="Sora" panose="020B0604020202020204" charset="0"/>
                <a:cs typeface="Sora" panose="020B0604020202020204" charset="0"/>
                <a:sym typeface="Arial"/>
              </a:rPr>
              <a:t>  BOURRAS Hamza</a:t>
            </a:r>
          </a:p>
        </p:txBody>
      </p:sp>
      <p:cxnSp>
        <p:nvCxnSpPr>
          <p:cNvPr id="30" name="Google Shape;296;p28"/>
          <p:cNvCxnSpPr/>
          <p:nvPr/>
        </p:nvCxnSpPr>
        <p:spPr>
          <a:xfrm>
            <a:off x="4457703" y="7414796"/>
            <a:ext cx="938688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1" name="Rectangle 30"/>
          <p:cNvSpPr/>
          <p:nvPr/>
        </p:nvSpPr>
        <p:spPr>
          <a:xfrm>
            <a:off x="12801600" y="7829551"/>
            <a:ext cx="2643188" cy="1328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>
              <a:buClr>
                <a:srgbClr val="000000"/>
              </a:buClr>
            </a:pPr>
            <a:endParaRPr lang="fr-FR" sz="2800" kern="0">
              <a:solidFill>
                <a:prstClr val="black"/>
              </a:solidFill>
              <a:latin typeface="Sora" panose="020B0604020202020204" charset="0"/>
              <a:cs typeface="Sora" panose="020B0604020202020204" charset="0"/>
              <a:sym typeface="Arial"/>
            </a:endParaRPr>
          </a:p>
        </p:txBody>
      </p:sp>
      <p:sp>
        <p:nvSpPr>
          <p:cNvPr id="32" name="Google Shape;295;p28"/>
          <p:cNvSpPr txBox="1">
            <a:spLocks/>
          </p:cNvSpPr>
          <p:nvPr/>
        </p:nvSpPr>
        <p:spPr>
          <a:xfrm>
            <a:off x="12087226" y="7457935"/>
            <a:ext cx="4017756" cy="152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indent="0" algn="l" defTabSz="1828800">
              <a:lnSpc>
                <a:spcPct val="150000"/>
              </a:lnSpc>
              <a:buClr>
                <a:prstClr val="black"/>
              </a:buClr>
            </a:pPr>
            <a:r>
              <a:rPr lang="fr-MA" sz="2800" b="1" kern="0" dirty="0">
                <a:solidFill>
                  <a:prstClr val="black"/>
                </a:solidFill>
                <a:latin typeface="Sora" panose="020B0604020202020204" charset="0"/>
                <a:cs typeface="Sora" panose="020B0604020202020204" charset="0"/>
              </a:rPr>
              <a:t>Encadré par :</a:t>
            </a:r>
          </a:p>
          <a:p>
            <a:pPr marL="0" indent="0" algn="l" defTabSz="1828800">
              <a:lnSpc>
                <a:spcPct val="150000"/>
              </a:lnSpc>
              <a:buClr>
                <a:prstClr val="black"/>
              </a:buClr>
            </a:pPr>
            <a:r>
              <a:rPr lang="fr-MA" sz="2800" kern="0" dirty="0">
                <a:solidFill>
                  <a:prstClr val="black"/>
                </a:solidFill>
                <a:latin typeface="Sora" panose="020B0604020202020204" charset="0"/>
                <a:cs typeface="Sora" panose="020B0604020202020204" charset="0"/>
              </a:rPr>
              <a:t>  M. CHARAFI Hamza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1707" y="2336702"/>
            <a:ext cx="6286500" cy="8286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>
              <a:buClr>
                <a:srgbClr val="000000"/>
              </a:buClr>
            </a:pPr>
            <a:r>
              <a:rPr lang="fr-MA" sz="3600" kern="0" dirty="0">
                <a:solidFill>
                  <a:prstClr val="black"/>
                </a:solidFill>
                <a:latin typeface="Sora" panose="020B0604020202020204" charset="0"/>
                <a:cs typeface="Sora" panose="020B0604020202020204" charset="0"/>
                <a:sym typeface="Arial"/>
              </a:rPr>
              <a:t>Stage de fin d’étude</a:t>
            </a:r>
            <a:endParaRPr lang="fr-FR" sz="3600" kern="0" dirty="0">
              <a:solidFill>
                <a:prstClr val="black"/>
              </a:solidFill>
              <a:latin typeface="Sora" panose="020B0604020202020204" charset="0"/>
              <a:cs typeface="Sora" panose="020B0604020202020204" charset="0"/>
              <a:sym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31707" y="1456607"/>
            <a:ext cx="6238874" cy="8585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>
              <a:buClr>
                <a:srgbClr val="000000"/>
              </a:buClr>
            </a:pPr>
            <a:r>
              <a:rPr lang="fr-MA" sz="2800" u="sng" kern="0" dirty="0">
                <a:solidFill>
                  <a:prstClr val="black"/>
                </a:solidFill>
                <a:latin typeface="Sora" panose="020B0604020202020204" charset="0"/>
                <a:cs typeface="Sora" panose="020B0604020202020204" charset="0"/>
                <a:sym typeface="Arial"/>
              </a:rPr>
              <a:t>Filière : Génie Informatique</a:t>
            </a:r>
            <a:endParaRPr lang="fr-FR" sz="2800" u="sng" kern="0" dirty="0">
              <a:solidFill>
                <a:prstClr val="black"/>
              </a:solidFill>
              <a:latin typeface="Sora" panose="020B0604020202020204" charset="0"/>
              <a:cs typeface="Sora" panose="020B0604020202020204" charset="0"/>
              <a:sym typeface="Arial"/>
            </a:endParaRPr>
          </a:p>
        </p:txBody>
      </p:sp>
      <p:pic>
        <p:nvPicPr>
          <p:cNvPr id="35" name="Picture 8">
            <a:extLst>
              <a:ext uri="{FF2B5EF4-FFF2-40B4-BE49-F238E27FC236}">
                <a16:creationId xmlns:a16="http://schemas.microsoft.com/office/drawing/2014/main" id="{FFDF9BB1-933A-A41D-2C01-74E124D7CA7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4654926" cy="249426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6905" y="190501"/>
            <a:ext cx="4915766" cy="2111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310;p30"/>
          <p:cNvSpPr txBox="1">
            <a:spLocks/>
          </p:cNvSpPr>
          <p:nvPr/>
        </p:nvSpPr>
        <p:spPr>
          <a:xfrm>
            <a:off x="1440000" y="890050"/>
            <a:ext cx="154080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3000"/>
              <a:buFont typeface="Sora"/>
              <a:buNone/>
              <a:tabLst/>
              <a:defRPr/>
            </a:pPr>
            <a:r>
              <a:rPr kumimoji="0" lang="fr-FR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Plan</a:t>
            </a:r>
            <a:endParaRPr kumimoji="0" lang="fr-FR" sz="4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49" name="Google Shape;311;p30"/>
          <p:cNvSpPr txBox="1">
            <a:spLocks/>
          </p:cNvSpPr>
          <p:nvPr/>
        </p:nvSpPr>
        <p:spPr>
          <a:xfrm>
            <a:off x="2912400" y="2505450"/>
            <a:ext cx="1666200" cy="8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3000"/>
              <a:buFont typeface="Sora"/>
              <a:buNone/>
              <a:tabLst/>
              <a:defRPr/>
            </a:pPr>
            <a:r>
              <a:rPr kumimoji="0" lang="en" sz="6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01</a:t>
            </a:r>
            <a:endParaRPr kumimoji="0" lang="en" sz="6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0" name="Google Shape;312;p30"/>
          <p:cNvSpPr txBox="1">
            <a:spLocks/>
          </p:cNvSpPr>
          <p:nvPr/>
        </p:nvSpPr>
        <p:spPr>
          <a:xfrm>
            <a:off x="2912400" y="5981892"/>
            <a:ext cx="1666200" cy="8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3000"/>
              <a:buFont typeface="Sora"/>
              <a:buNone/>
              <a:tabLst/>
              <a:defRPr/>
            </a:pPr>
            <a:r>
              <a:rPr kumimoji="0" lang="en" sz="6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04</a:t>
            </a:r>
            <a:endParaRPr kumimoji="0" lang="en" sz="6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1" name="Google Shape;313;p30"/>
          <p:cNvSpPr txBox="1">
            <a:spLocks/>
          </p:cNvSpPr>
          <p:nvPr/>
        </p:nvSpPr>
        <p:spPr>
          <a:xfrm>
            <a:off x="8310950" y="2505450"/>
            <a:ext cx="1666200" cy="8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3000"/>
              <a:buFont typeface="Sora"/>
              <a:buNone/>
              <a:tabLst/>
              <a:defRPr/>
            </a:pPr>
            <a:r>
              <a:rPr kumimoji="0" lang="en" sz="6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02</a:t>
            </a:r>
            <a:endParaRPr kumimoji="0" lang="en" sz="6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2" name="Google Shape;314;p30"/>
          <p:cNvSpPr txBox="1">
            <a:spLocks/>
          </p:cNvSpPr>
          <p:nvPr/>
        </p:nvSpPr>
        <p:spPr>
          <a:xfrm>
            <a:off x="8310950" y="5981892"/>
            <a:ext cx="1666200" cy="8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3000"/>
              <a:buFont typeface="Sora"/>
              <a:buNone/>
              <a:tabLst/>
              <a:defRPr/>
            </a:pPr>
            <a:r>
              <a:rPr kumimoji="0" lang="en" sz="6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05</a:t>
            </a:r>
            <a:endParaRPr kumimoji="0" lang="en" sz="6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3" name="Google Shape;315;p30"/>
          <p:cNvSpPr txBox="1">
            <a:spLocks/>
          </p:cNvSpPr>
          <p:nvPr/>
        </p:nvSpPr>
        <p:spPr>
          <a:xfrm>
            <a:off x="13709500" y="2505450"/>
            <a:ext cx="1666200" cy="8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3000"/>
              <a:buFont typeface="Sora"/>
              <a:buNone/>
              <a:tabLst/>
              <a:defRPr/>
            </a:pPr>
            <a:r>
              <a:rPr kumimoji="0" lang="en" sz="6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03</a:t>
            </a:r>
            <a:endParaRPr kumimoji="0" lang="en" sz="6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4" name="Google Shape;316;p30"/>
          <p:cNvSpPr txBox="1">
            <a:spLocks/>
          </p:cNvSpPr>
          <p:nvPr/>
        </p:nvSpPr>
        <p:spPr>
          <a:xfrm>
            <a:off x="13709500" y="5981892"/>
            <a:ext cx="1666200" cy="8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6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3000"/>
              <a:buFont typeface="Sora"/>
              <a:buNone/>
              <a:tabLst/>
              <a:defRPr/>
            </a:pPr>
            <a:r>
              <a:rPr kumimoji="0" lang="en" sz="6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06</a:t>
            </a:r>
            <a:endParaRPr kumimoji="0" lang="en" sz="6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5" name="Google Shape;317;p30"/>
          <p:cNvSpPr txBox="1">
            <a:spLocks/>
          </p:cNvSpPr>
          <p:nvPr/>
        </p:nvSpPr>
        <p:spPr>
          <a:xfrm>
            <a:off x="1440000" y="3843850"/>
            <a:ext cx="4611000" cy="15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36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2000"/>
              <a:buFont typeface="Sora"/>
              <a:buNone/>
              <a:tabLst/>
              <a:defRPr/>
            </a:pPr>
            <a:r>
              <a:rPr kumimoji="0" lang="fr-F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Introduction</a:t>
            </a:r>
            <a:endParaRPr kumimoji="0" lang="fr-FR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6" name="Google Shape;318;p30"/>
          <p:cNvSpPr txBox="1">
            <a:spLocks/>
          </p:cNvSpPr>
          <p:nvPr/>
        </p:nvSpPr>
        <p:spPr>
          <a:xfrm>
            <a:off x="6676825" y="3843852"/>
            <a:ext cx="4934350" cy="100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36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2000"/>
              <a:buFont typeface="Sora"/>
              <a:buNone/>
              <a:tabLst/>
              <a:defRPr/>
            </a:pPr>
            <a:r>
              <a:rPr kumimoji="0" lang="fr-FR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Problématique </a:t>
            </a:r>
            <a:endParaRPr kumimoji="0" lang="fr-FR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7" name="Google Shape;319;p30"/>
          <p:cNvSpPr txBox="1">
            <a:spLocks/>
          </p:cNvSpPr>
          <p:nvPr/>
        </p:nvSpPr>
        <p:spPr>
          <a:xfrm>
            <a:off x="12237100" y="3843850"/>
            <a:ext cx="4611000" cy="15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36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2000"/>
              <a:buFont typeface="Sora"/>
              <a:buNone/>
              <a:tabLst/>
              <a:defRPr/>
            </a:pPr>
            <a:r>
              <a:rPr kumimoji="0" lang="fr-FR" sz="3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Les outils utilisés</a:t>
            </a:r>
            <a:endParaRPr kumimoji="0" lang="fr-FR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8" name="Google Shape;320;p30"/>
          <p:cNvSpPr txBox="1">
            <a:spLocks/>
          </p:cNvSpPr>
          <p:nvPr/>
        </p:nvSpPr>
        <p:spPr>
          <a:xfrm>
            <a:off x="1440000" y="7320400"/>
            <a:ext cx="4611000" cy="15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36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2000"/>
              <a:buFont typeface="Sora"/>
              <a:buNone/>
              <a:tabLst/>
              <a:defRPr/>
            </a:pPr>
            <a:r>
              <a:rPr kumimoji="0" lang="fr-FR" sz="3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Conception du projet</a:t>
            </a:r>
            <a:endParaRPr kumimoji="0" lang="fr-FR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59" name="Google Shape;321;p30"/>
          <p:cNvSpPr txBox="1">
            <a:spLocks/>
          </p:cNvSpPr>
          <p:nvPr/>
        </p:nvSpPr>
        <p:spPr>
          <a:xfrm>
            <a:off x="6838550" y="7320400"/>
            <a:ext cx="4611000" cy="15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36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2000"/>
              <a:buFont typeface="Sora"/>
              <a:buNone/>
              <a:tabLst/>
              <a:defRPr/>
            </a:pPr>
            <a:r>
              <a:rPr kumimoji="0" lang="fr-FR" sz="3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Présentation du projet </a:t>
            </a:r>
            <a:endParaRPr kumimoji="0" lang="fr-FR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60" name="Google Shape;322;p30"/>
          <p:cNvSpPr txBox="1">
            <a:spLocks/>
          </p:cNvSpPr>
          <p:nvPr/>
        </p:nvSpPr>
        <p:spPr>
          <a:xfrm>
            <a:off x="12237100" y="7320400"/>
            <a:ext cx="4611000" cy="15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36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2000"/>
              <a:buFont typeface="Sora"/>
              <a:buNone/>
              <a:tabLst/>
              <a:defRPr/>
            </a:pPr>
            <a:r>
              <a:rPr kumimoji="0" lang="fr-FR" sz="3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Conclusion</a:t>
            </a:r>
            <a:endParaRPr kumimoji="0" lang="fr-FR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cxnSp>
        <p:nvCxnSpPr>
          <p:cNvPr id="61" name="Google Shape;323;p30"/>
          <p:cNvCxnSpPr/>
          <p:nvPr/>
        </p:nvCxnSpPr>
        <p:spPr>
          <a:xfrm>
            <a:off x="3098700" y="3705442"/>
            <a:ext cx="12936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2" name="Google Shape;324;p30"/>
          <p:cNvCxnSpPr/>
          <p:nvPr/>
        </p:nvCxnSpPr>
        <p:spPr>
          <a:xfrm>
            <a:off x="3098700" y="7181892"/>
            <a:ext cx="12936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3" name="Google Shape;325;p30"/>
          <p:cNvCxnSpPr/>
          <p:nvPr/>
        </p:nvCxnSpPr>
        <p:spPr>
          <a:xfrm>
            <a:off x="8497250" y="3705442"/>
            <a:ext cx="12936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4" name="Google Shape;326;p30"/>
          <p:cNvCxnSpPr/>
          <p:nvPr/>
        </p:nvCxnSpPr>
        <p:spPr>
          <a:xfrm>
            <a:off x="8497250" y="7181892"/>
            <a:ext cx="12936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5" name="Google Shape;327;p30"/>
          <p:cNvCxnSpPr/>
          <p:nvPr/>
        </p:nvCxnSpPr>
        <p:spPr>
          <a:xfrm>
            <a:off x="13895800" y="3705442"/>
            <a:ext cx="12936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6" name="Google Shape;328;p30"/>
          <p:cNvCxnSpPr/>
          <p:nvPr/>
        </p:nvCxnSpPr>
        <p:spPr>
          <a:xfrm>
            <a:off x="13895800" y="7181892"/>
            <a:ext cx="12936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7" name="Google Shape;32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2119601" y="8527577"/>
            <a:ext cx="355850" cy="173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2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920269">
            <a:off x="13066203" y="-4196498"/>
            <a:ext cx="6226076" cy="8392995"/>
          </a:xfrm>
          <a:custGeom>
            <a:avLst/>
            <a:gdLst/>
            <a:ahLst/>
            <a:cxnLst/>
            <a:rect l="l" t="t" r="r" b="b"/>
            <a:pathLst>
              <a:path w="6226076" h="8392995">
                <a:moveTo>
                  <a:pt x="0" y="0"/>
                </a:moveTo>
                <a:lnTo>
                  <a:pt x="6226077" y="0"/>
                </a:lnTo>
                <a:lnTo>
                  <a:pt x="6226077" y="8392996"/>
                </a:lnTo>
                <a:lnTo>
                  <a:pt x="0" y="83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28800" y="5981700"/>
            <a:ext cx="6781906" cy="6529835"/>
          </a:xfrm>
          <a:custGeom>
            <a:avLst/>
            <a:gdLst/>
            <a:ahLst/>
            <a:cxnLst/>
            <a:rect l="l" t="t" r="r" b="b"/>
            <a:pathLst>
              <a:path w="6781906" h="6529835">
                <a:moveTo>
                  <a:pt x="0" y="0"/>
                </a:moveTo>
                <a:lnTo>
                  <a:pt x="6781905" y="0"/>
                </a:lnTo>
                <a:lnTo>
                  <a:pt x="6781905" y="6529835"/>
                </a:lnTo>
                <a:lnTo>
                  <a:pt x="0" y="6529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Google Shape;341;p32"/>
          <p:cNvSpPr txBox="1">
            <a:spLocks/>
          </p:cNvSpPr>
          <p:nvPr/>
        </p:nvSpPr>
        <p:spPr>
          <a:xfrm>
            <a:off x="4649525" y="5164095"/>
            <a:ext cx="8989350" cy="17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5000"/>
              <a:buFont typeface="Sora"/>
              <a:buNone/>
              <a:tabLst/>
              <a:defRPr/>
            </a:pPr>
            <a:r>
              <a:rPr kumimoji="0" lang="fr-FR" sz="9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Introduction</a:t>
            </a:r>
            <a:endParaRPr kumimoji="0" lang="fr-FR" sz="9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15" name="Google Shape;342;p32"/>
          <p:cNvSpPr txBox="1">
            <a:spLocks/>
          </p:cNvSpPr>
          <p:nvPr/>
        </p:nvSpPr>
        <p:spPr>
          <a:xfrm>
            <a:off x="8054300" y="2903390"/>
            <a:ext cx="2179800" cy="2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6000"/>
              <a:buFont typeface="Sora"/>
              <a:buNone/>
              <a:tabLst/>
              <a:defRPr/>
            </a:pPr>
            <a:r>
              <a:rPr kumimoji="0" lang="en" sz="10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01</a:t>
            </a:r>
            <a:endParaRPr kumimoji="0" lang="en" sz="10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cxnSp>
        <p:nvCxnSpPr>
          <p:cNvPr id="16" name="Google Shape;343;p32"/>
          <p:cNvCxnSpPr/>
          <p:nvPr/>
        </p:nvCxnSpPr>
        <p:spPr>
          <a:xfrm>
            <a:off x="7329200" y="5061542"/>
            <a:ext cx="3630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3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920269">
            <a:off x="13066203" y="-4196498"/>
            <a:ext cx="6226076" cy="8392995"/>
          </a:xfrm>
          <a:custGeom>
            <a:avLst/>
            <a:gdLst/>
            <a:ahLst/>
            <a:cxnLst/>
            <a:rect l="l" t="t" r="r" b="b"/>
            <a:pathLst>
              <a:path w="6226076" h="8392995">
                <a:moveTo>
                  <a:pt x="0" y="0"/>
                </a:moveTo>
                <a:lnTo>
                  <a:pt x="6226077" y="0"/>
                </a:lnTo>
                <a:lnTo>
                  <a:pt x="6226077" y="8392996"/>
                </a:lnTo>
                <a:lnTo>
                  <a:pt x="0" y="83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28800" y="5981700"/>
            <a:ext cx="6781906" cy="6529835"/>
          </a:xfrm>
          <a:custGeom>
            <a:avLst/>
            <a:gdLst/>
            <a:ahLst/>
            <a:cxnLst/>
            <a:rect l="l" t="t" r="r" b="b"/>
            <a:pathLst>
              <a:path w="6781906" h="6529835">
                <a:moveTo>
                  <a:pt x="0" y="0"/>
                </a:moveTo>
                <a:lnTo>
                  <a:pt x="6781905" y="0"/>
                </a:lnTo>
                <a:lnTo>
                  <a:pt x="6781905" y="6529835"/>
                </a:lnTo>
                <a:lnTo>
                  <a:pt x="0" y="6529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Google Shape;341;p32"/>
          <p:cNvSpPr txBox="1">
            <a:spLocks/>
          </p:cNvSpPr>
          <p:nvPr/>
        </p:nvSpPr>
        <p:spPr>
          <a:xfrm>
            <a:off x="4649525" y="5164095"/>
            <a:ext cx="8989350" cy="17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5000"/>
              <a:buFont typeface="Sora"/>
              <a:buNone/>
              <a:tabLst/>
              <a:defRPr/>
            </a:pPr>
            <a:r>
              <a:rPr kumimoji="0" lang="fr-FR" sz="9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Problématique</a:t>
            </a:r>
            <a:endParaRPr kumimoji="0" lang="fr-FR" sz="9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15" name="Google Shape;342;p32"/>
          <p:cNvSpPr txBox="1">
            <a:spLocks/>
          </p:cNvSpPr>
          <p:nvPr/>
        </p:nvSpPr>
        <p:spPr>
          <a:xfrm>
            <a:off x="8054300" y="2903390"/>
            <a:ext cx="2179800" cy="2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6000"/>
              <a:buFont typeface="Sora"/>
              <a:buNone/>
              <a:tabLst/>
              <a:defRPr/>
            </a:pPr>
            <a:r>
              <a:rPr kumimoji="0" lang="en" sz="10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02</a:t>
            </a:r>
            <a:endParaRPr kumimoji="0" lang="en" sz="10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cxnSp>
        <p:nvCxnSpPr>
          <p:cNvPr id="16" name="Google Shape;343;p32"/>
          <p:cNvCxnSpPr/>
          <p:nvPr/>
        </p:nvCxnSpPr>
        <p:spPr>
          <a:xfrm>
            <a:off x="7329200" y="5061542"/>
            <a:ext cx="3630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4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46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609600" y="-1257300"/>
            <a:ext cx="1631476" cy="3227741"/>
          </a:xfrm>
          <a:custGeom>
            <a:avLst/>
            <a:gdLst/>
            <a:ahLst/>
            <a:cxnLst/>
            <a:rect l="l" t="t" r="r" b="b"/>
            <a:pathLst>
              <a:path w="1631476" h="3227741">
                <a:moveTo>
                  <a:pt x="0" y="0"/>
                </a:moveTo>
                <a:lnTo>
                  <a:pt x="1631477" y="0"/>
                </a:lnTo>
                <a:lnTo>
                  <a:pt x="1631477" y="3227741"/>
                </a:lnTo>
                <a:lnTo>
                  <a:pt x="0" y="3227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19794" y="8267700"/>
            <a:ext cx="2936412" cy="2827271"/>
          </a:xfrm>
          <a:custGeom>
            <a:avLst/>
            <a:gdLst/>
            <a:ahLst/>
            <a:cxnLst/>
            <a:rect l="l" t="t" r="r" b="b"/>
            <a:pathLst>
              <a:path w="2936412" h="2827271">
                <a:moveTo>
                  <a:pt x="0" y="0"/>
                </a:moveTo>
                <a:lnTo>
                  <a:pt x="2936412" y="0"/>
                </a:lnTo>
                <a:lnTo>
                  <a:pt x="2936412" y="2827271"/>
                </a:lnTo>
                <a:lnTo>
                  <a:pt x="0" y="282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121658" y="9285292"/>
            <a:ext cx="4634548" cy="396043"/>
          </a:xfrm>
          <a:custGeom>
            <a:avLst/>
            <a:gdLst/>
            <a:ahLst/>
            <a:cxnLst/>
            <a:rect l="l" t="t" r="r" b="b"/>
            <a:pathLst>
              <a:path w="4634548" h="396043">
                <a:moveTo>
                  <a:pt x="0" y="0"/>
                </a:moveTo>
                <a:lnTo>
                  <a:pt x="4634548" y="0"/>
                </a:lnTo>
                <a:lnTo>
                  <a:pt x="4634548" y="396043"/>
                </a:lnTo>
                <a:lnTo>
                  <a:pt x="0" y="3960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Google Shape;348;p33"/>
          <p:cNvSpPr txBox="1">
            <a:spLocks/>
          </p:cNvSpPr>
          <p:nvPr/>
        </p:nvSpPr>
        <p:spPr>
          <a:xfrm>
            <a:off x="1440000" y="890050"/>
            <a:ext cx="154080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3000"/>
              <a:buFont typeface="Sora"/>
              <a:buNone/>
              <a:tabLst/>
              <a:defRPr/>
            </a:pPr>
            <a:r>
              <a:rPr kumimoji="0" lang="fr-FR" sz="5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Problématique</a:t>
            </a:r>
            <a:endParaRPr kumimoji="0" lang="fr-FR" sz="5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40E0630F-2CD9-D685-540F-947C700C2A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0" y="416732"/>
            <a:ext cx="2092036" cy="2092036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40E0630F-2CD9-D685-540F-947C700C2A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5826" y="416732"/>
            <a:ext cx="2092036" cy="209203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828800" y="3735907"/>
            <a:ext cx="7010400" cy="369578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457200" lvl="0" indent="-457200" algn="just" defTabSz="182880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FR" sz="3200" kern="0" dirty="0">
                <a:latin typeface="Sora" panose="020B0604020202020204" charset="0"/>
                <a:cs typeface="Sora" panose="020B0604020202020204" charset="0"/>
                <a:sym typeface="Arial"/>
              </a:rPr>
              <a:t>Déplacement Physique et Attente</a:t>
            </a:r>
          </a:p>
          <a:p>
            <a:pPr marL="457200" lvl="0" indent="-457200" algn="just" defTabSz="182880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FR" sz="3200" kern="0" dirty="0">
                <a:latin typeface="Sora" panose="020B0604020202020204" charset="0"/>
                <a:cs typeface="Sora" panose="020B0604020202020204" charset="0"/>
                <a:sym typeface="Arial"/>
              </a:rPr>
              <a:t>Suivi de la Construction</a:t>
            </a:r>
          </a:p>
          <a:p>
            <a:pPr marL="457200" lvl="0" indent="-457200" algn="just" defTabSz="182880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FR" sz="3200" kern="0" dirty="0">
                <a:latin typeface="Sora" panose="020B0604020202020204" charset="0"/>
                <a:cs typeface="Sora" panose="020B0604020202020204" charset="0"/>
                <a:sym typeface="Arial"/>
              </a:rPr>
              <a:t>Gestion des Demandes et </a:t>
            </a:r>
            <a:r>
              <a:rPr lang="fr-FR" sz="3200" kern="0" dirty="0" smtClean="0">
                <a:latin typeface="Sora" panose="020B0604020202020204" charset="0"/>
                <a:cs typeface="Sora" panose="020B0604020202020204" charset="0"/>
                <a:sym typeface="Arial"/>
              </a:rPr>
              <a:t>projets</a:t>
            </a:r>
            <a:endParaRPr lang="fr-FR" sz="3200" kern="0" dirty="0">
              <a:latin typeface="Sora" panose="020B0604020202020204" charset="0"/>
              <a:cs typeface="Sora" panose="020B0604020202020204" charset="0"/>
              <a:sym typeface="Arial"/>
            </a:endParaRPr>
          </a:p>
          <a:p>
            <a:pPr marL="457200" lvl="0" indent="-457200" algn="just" defTabSz="182880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fr-FR" sz="3200" kern="0" dirty="0">
                <a:latin typeface="Sora" panose="020B0604020202020204" charset="0"/>
                <a:cs typeface="Sora" panose="020B0604020202020204" charset="0"/>
                <a:sym typeface="Arial"/>
              </a:rPr>
              <a:t>Prise de Rendez-Vous</a:t>
            </a:r>
            <a:endParaRPr lang="fr-FR" sz="3200" kern="0" dirty="0" smtClean="0">
              <a:latin typeface="Sora" panose="020B0604020202020204" charset="0"/>
              <a:cs typeface="Sora" panose="020B0604020202020204" charset="0"/>
              <a:sym typeface="Arial"/>
            </a:endParaRPr>
          </a:p>
        </p:txBody>
      </p:sp>
      <p:sp>
        <p:nvSpPr>
          <p:cNvPr id="10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5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920269">
            <a:off x="13066203" y="-4196498"/>
            <a:ext cx="6226076" cy="8392995"/>
          </a:xfrm>
          <a:custGeom>
            <a:avLst/>
            <a:gdLst/>
            <a:ahLst/>
            <a:cxnLst/>
            <a:rect l="l" t="t" r="r" b="b"/>
            <a:pathLst>
              <a:path w="6226076" h="8392995">
                <a:moveTo>
                  <a:pt x="0" y="0"/>
                </a:moveTo>
                <a:lnTo>
                  <a:pt x="6226077" y="0"/>
                </a:lnTo>
                <a:lnTo>
                  <a:pt x="6226077" y="8392996"/>
                </a:lnTo>
                <a:lnTo>
                  <a:pt x="0" y="83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28800" y="5981700"/>
            <a:ext cx="6781906" cy="6529835"/>
          </a:xfrm>
          <a:custGeom>
            <a:avLst/>
            <a:gdLst/>
            <a:ahLst/>
            <a:cxnLst/>
            <a:rect l="l" t="t" r="r" b="b"/>
            <a:pathLst>
              <a:path w="6781906" h="6529835">
                <a:moveTo>
                  <a:pt x="0" y="0"/>
                </a:moveTo>
                <a:lnTo>
                  <a:pt x="6781905" y="0"/>
                </a:lnTo>
                <a:lnTo>
                  <a:pt x="6781905" y="6529835"/>
                </a:lnTo>
                <a:lnTo>
                  <a:pt x="0" y="6529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Google Shape;341;p32"/>
          <p:cNvSpPr txBox="1">
            <a:spLocks/>
          </p:cNvSpPr>
          <p:nvPr/>
        </p:nvSpPr>
        <p:spPr>
          <a:xfrm>
            <a:off x="3810000" y="5164095"/>
            <a:ext cx="11048075" cy="17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5000"/>
              <a:buFont typeface="Sora"/>
              <a:buNone/>
              <a:tabLst/>
              <a:defRPr/>
            </a:pPr>
            <a:r>
              <a:rPr kumimoji="0" lang="fr-FR" sz="9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Les outils utilisés</a:t>
            </a:r>
            <a:endParaRPr kumimoji="0" lang="fr-FR" sz="9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15" name="Google Shape;342;p32"/>
          <p:cNvSpPr txBox="1">
            <a:spLocks/>
          </p:cNvSpPr>
          <p:nvPr/>
        </p:nvSpPr>
        <p:spPr>
          <a:xfrm>
            <a:off x="8054300" y="2903390"/>
            <a:ext cx="2179800" cy="2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6000"/>
              <a:buFont typeface="Sora"/>
              <a:buNone/>
              <a:tabLst/>
              <a:defRPr/>
            </a:pPr>
            <a:r>
              <a:rPr kumimoji="0" lang="en" sz="10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03</a:t>
            </a:r>
            <a:endParaRPr kumimoji="0" lang="en" sz="10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cxnSp>
        <p:nvCxnSpPr>
          <p:cNvPr id="16" name="Google Shape;343;p32"/>
          <p:cNvCxnSpPr/>
          <p:nvPr/>
        </p:nvCxnSpPr>
        <p:spPr>
          <a:xfrm>
            <a:off x="7329200" y="5061542"/>
            <a:ext cx="3630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6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73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609600" y="-1257300"/>
            <a:ext cx="1631476" cy="3227741"/>
          </a:xfrm>
          <a:custGeom>
            <a:avLst/>
            <a:gdLst/>
            <a:ahLst/>
            <a:cxnLst/>
            <a:rect l="l" t="t" r="r" b="b"/>
            <a:pathLst>
              <a:path w="1631476" h="3227741">
                <a:moveTo>
                  <a:pt x="0" y="0"/>
                </a:moveTo>
                <a:lnTo>
                  <a:pt x="1631477" y="0"/>
                </a:lnTo>
                <a:lnTo>
                  <a:pt x="1631477" y="3227741"/>
                </a:lnTo>
                <a:lnTo>
                  <a:pt x="0" y="3227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19794" y="8267700"/>
            <a:ext cx="2936412" cy="2827271"/>
          </a:xfrm>
          <a:custGeom>
            <a:avLst/>
            <a:gdLst/>
            <a:ahLst/>
            <a:cxnLst/>
            <a:rect l="l" t="t" r="r" b="b"/>
            <a:pathLst>
              <a:path w="2936412" h="2827271">
                <a:moveTo>
                  <a:pt x="0" y="0"/>
                </a:moveTo>
                <a:lnTo>
                  <a:pt x="2936412" y="0"/>
                </a:lnTo>
                <a:lnTo>
                  <a:pt x="2936412" y="2827271"/>
                </a:lnTo>
                <a:lnTo>
                  <a:pt x="0" y="282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121658" y="9285292"/>
            <a:ext cx="4634548" cy="396043"/>
          </a:xfrm>
          <a:custGeom>
            <a:avLst/>
            <a:gdLst/>
            <a:ahLst/>
            <a:cxnLst/>
            <a:rect l="l" t="t" r="r" b="b"/>
            <a:pathLst>
              <a:path w="4634548" h="396043">
                <a:moveTo>
                  <a:pt x="0" y="0"/>
                </a:moveTo>
                <a:lnTo>
                  <a:pt x="4634548" y="0"/>
                </a:lnTo>
                <a:lnTo>
                  <a:pt x="4634548" y="396043"/>
                </a:lnTo>
                <a:lnTo>
                  <a:pt x="0" y="3960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10" name="Image 9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237" y="455977"/>
            <a:ext cx="2945892" cy="2811478"/>
          </a:xfrm>
          <a:prstGeom prst="rect">
            <a:avLst/>
          </a:prstGeom>
          <a:ln>
            <a:noFill/>
          </a:ln>
        </p:spPr>
      </p:pic>
      <p:pic>
        <p:nvPicPr>
          <p:cNvPr id="11" name="Image 10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973" y="455977"/>
            <a:ext cx="2962020" cy="2811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Image 11" descr="tailwind-css-logo-5AD4175897-seeklogo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145" y="455979"/>
            <a:ext cx="3135376" cy="2811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Image 12"/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4368" y="455977"/>
            <a:ext cx="2865818" cy="2811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Image 17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237" y="5291203"/>
            <a:ext cx="2945892" cy="2926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Image 19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145" y="5291203"/>
            <a:ext cx="3135376" cy="2926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Image 20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4365" y="5291200"/>
            <a:ext cx="2865820" cy="292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8"/>
          <p:cNvSpPr txBox="1"/>
          <p:nvPr/>
        </p:nvSpPr>
        <p:spPr>
          <a:xfrm>
            <a:off x="1012993" y="3316220"/>
            <a:ext cx="3206380" cy="8552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1828800">
              <a:lnSpc>
                <a:spcPts val="7838"/>
              </a:lnSpc>
              <a:buClr>
                <a:srgbClr val="000000"/>
              </a:buClr>
            </a:pPr>
            <a:r>
              <a:rPr lang="en-US" sz="3600" kern="0" dirty="0">
                <a:latin typeface="Sora" panose="020B0604020202020204" charset="0"/>
                <a:cs typeface="Sora" panose="020B0604020202020204" charset="0"/>
                <a:sym typeface="Arial"/>
              </a:rPr>
              <a:t>Vue JS</a:t>
            </a:r>
          </a:p>
        </p:txBody>
      </p:sp>
      <p:sp>
        <p:nvSpPr>
          <p:cNvPr id="23" name="TextBox 28"/>
          <p:cNvSpPr txBox="1"/>
          <p:nvPr/>
        </p:nvSpPr>
        <p:spPr>
          <a:xfrm>
            <a:off x="5270793" y="3316220"/>
            <a:ext cx="3206380" cy="8552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1828800">
              <a:lnSpc>
                <a:spcPts val="7838"/>
              </a:lnSpc>
              <a:buClr>
                <a:srgbClr val="000000"/>
              </a:buClr>
            </a:pPr>
            <a:r>
              <a:rPr lang="en-US" sz="3600" kern="0" dirty="0">
                <a:latin typeface="Sora" panose="020B0604020202020204" charset="0"/>
                <a:cs typeface="Sora" panose="020B0604020202020204" charset="0"/>
                <a:sym typeface="Arial"/>
              </a:rPr>
              <a:t>Laravel</a:t>
            </a:r>
          </a:p>
        </p:txBody>
      </p:sp>
      <p:sp>
        <p:nvSpPr>
          <p:cNvPr id="24" name="TextBox 28"/>
          <p:cNvSpPr txBox="1"/>
          <p:nvPr/>
        </p:nvSpPr>
        <p:spPr>
          <a:xfrm>
            <a:off x="9769643" y="3279054"/>
            <a:ext cx="3206380" cy="8552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1828800">
              <a:lnSpc>
                <a:spcPts val="7838"/>
              </a:lnSpc>
              <a:buClr>
                <a:srgbClr val="000000"/>
              </a:buClr>
            </a:pPr>
            <a:r>
              <a:rPr lang="en-US" sz="3600" kern="0" dirty="0">
                <a:latin typeface="Sora" panose="020B0604020202020204" charset="0"/>
                <a:cs typeface="Sora" panose="020B0604020202020204" charset="0"/>
                <a:sym typeface="Arial"/>
              </a:rPr>
              <a:t>Tailwind CSS</a:t>
            </a:r>
          </a:p>
        </p:txBody>
      </p:sp>
      <p:sp>
        <p:nvSpPr>
          <p:cNvPr id="25" name="TextBox 28"/>
          <p:cNvSpPr txBox="1"/>
          <p:nvPr/>
        </p:nvSpPr>
        <p:spPr>
          <a:xfrm>
            <a:off x="14074085" y="3170692"/>
            <a:ext cx="3206380" cy="8552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1828800">
              <a:lnSpc>
                <a:spcPts val="7838"/>
              </a:lnSpc>
              <a:buClr>
                <a:srgbClr val="000000"/>
              </a:buClr>
            </a:pPr>
            <a:r>
              <a:rPr lang="en-US" sz="3600" kern="0" dirty="0">
                <a:latin typeface="Sora" panose="020B0604020202020204" charset="0"/>
                <a:cs typeface="Sora" panose="020B0604020202020204" charset="0"/>
                <a:sym typeface="Arial"/>
              </a:rPr>
              <a:t>MySQL</a:t>
            </a:r>
          </a:p>
        </p:txBody>
      </p:sp>
      <p:sp>
        <p:nvSpPr>
          <p:cNvPr id="26" name="TextBox 28"/>
          <p:cNvSpPr txBox="1"/>
          <p:nvPr/>
        </p:nvSpPr>
        <p:spPr>
          <a:xfrm>
            <a:off x="1012993" y="8191842"/>
            <a:ext cx="3206380" cy="8552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1828800">
              <a:lnSpc>
                <a:spcPts val="7838"/>
              </a:lnSpc>
              <a:buClr>
                <a:srgbClr val="000000"/>
              </a:buClr>
            </a:pPr>
            <a:r>
              <a:rPr lang="en-US" sz="3600" kern="0" dirty="0">
                <a:latin typeface="Sora" panose="020B0604020202020204" charset="0"/>
                <a:cs typeface="Sora" panose="020B0604020202020204" charset="0"/>
                <a:sym typeface="Arial"/>
              </a:rPr>
              <a:t>Postman</a:t>
            </a:r>
          </a:p>
        </p:txBody>
      </p:sp>
      <p:sp>
        <p:nvSpPr>
          <p:cNvPr id="27" name="TextBox 28"/>
          <p:cNvSpPr txBox="1"/>
          <p:nvPr/>
        </p:nvSpPr>
        <p:spPr>
          <a:xfrm>
            <a:off x="5257269" y="8137660"/>
            <a:ext cx="3206380" cy="8552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1828800">
              <a:lnSpc>
                <a:spcPts val="7838"/>
              </a:lnSpc>
              <a:buClr>
                <a:srgbClr val="000000"/>
              </a:buClr>
            </a:pPr>
            <a:r>
              <a:rPr lang="en-US" sz="3600" kern="0" dirty="0">
                <a:latin typeface="Sora" panose="020B0604020202020204" charset="0"/>
                <a:cs typeface="Sora" panose="020B0604020202020204" charset="0"/>
                <a:sym typeface="Arial"/>
              </a:rPr>
              <a:t>GitHub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05145" y="8137660"/>
            <a:ext cx="3206380" cy="8552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1828800">
              <a:lnSpc>
                <a:spcPts val="7838"/>
              </a:lnSpc>
              <a:buClr>
                <a:srgbClr val="000000"/>
              </a:buClr>
            </a:pPr>
            <a:r>
              <a:rPr lang="en-US" sz="3600" kern="0" dirty="0">
                <a:latin typeface="Sora" panose="020B0604020202020204" charset="0"/>
                <a:cs typeface="Sora" panose="020B0604020202020204" charset="0"/>
                <a:sym typeface="Arial"/>
              </a:rPr>
              <a:t>VS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74085" y="8137660"/>
            <a:ext cx="3206380" cy="8552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defTabSz="1828800">
              <a:lnSpc>
                <a:spcPts val="7838"/>
              </a:lnSpc>
              <a:buClr>
                <a:srgbClr val="000000"/>
              </a:buClr>
            </a:pPr>
            <a:r>
              <a:rPr lang="en-US" sz="3600" kern="0" dirty="0">
                <a:latin typeface="Sora" panose="020B0604020202020204" charset="0"/>
                <a:cs typeface="Sora" panose="020B0604020202020204" charset="0"/>
                <a:sym typeface="Arial"/>
              </a:rPr>
              <a:t>Xampp</a:t>
            </a:r>
          </a:p>
        </p:txBody>
      </p:sp>
      <p:pic>
        <p:nvPicPr>
          <p:cNvPr id="30" name="Image 29" descr="Github Logo - Free social media icons"/>
          <p:cNvPicPr/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973" y="5291200"/>
            <a:ext cx="2962020" cy="2846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7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89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920269">
            <a:off x="13066203" y="-4196498"/>
            <a:ext cx="6226076" cy="8392995"/>
          </a:xfrm>
          <a:custGeom>
            <a:avLst/>
            <a:gdLst/>
            <a:ahLst/>
            <a:cxnLst/>
            <a:rect l="l" t="t" r="r" b="b"/>
            <a:pathLst>
              <a:path w="6226076" h="8392995">
                <a:moveTo>
                  <a:pt x="0" y="0"/>
                </a:moveTo>
                <a:lnTo>
                  <a:pt x="6226077" y="0"/>
                </a:lnTo>
                <a:lnTo>
                  <a:pt x="6226077" y="8392996"/>
                </a:lnTo>
                <a:lnTo>
                  <a:pt x="0" y="83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28800" y="5981700"/>
            <a:ext cx="6781906" cy="6529835"/>
          </a:xfrm>
          <a:custGeom>
            <a:avLst/>
            <a:gdLst/>
            <a:ahLst/>
            <a:cxnLst/>
            <a:rect l="l" t="t" r="r" b="b"/>
            <a:pathLst>
              <a:path w="6781906" h="6529835">
                <a:moveTo>
                  <a:pt x="0" y="0"/>
                </a:moveTo>
                <a:lnTo>
                  <a:pt x="6781905" y="0"/>
                </a:lnTo>
                <a:lnTo>
                  <a:pt x="6781905" y="6529835"/>
                </a:lnTo>
                <a:lnTo>
                  <a:pt x="0" y="6529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Google Shape;341;p32"/>
          <p:cNvSpPr txBox="1">
            <a:spLocks/>
          </p:cNvSpPr>
          <p:nvPr/>
        </p:nvSpPr>
        <p:spPr>
          <a:xfrm>
            <a:off x="2210462" y="5120700"/>
            <a:ext cx="13867475" cy="17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5000"/>
              <a:buFont typeface="Sora"/>
              <a:buNone/>
              <a:tabLst/>
              <a:defRPr/>
            </a:pPr>
            <a:r>
              <a:rPr kumimoji="0" lang="fr-FR" sz="9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Conception du projet</a:t>
            </a:r>
            <a:endParaRPr kumimoji="0" lang="fr-FR" sz="9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15" name="Google Shape;342;p32"/>
          <p:cNvSpPr txBox="1">
            <a:spLocks/>
          </p:cNvSpPr>
          <p:nvPr/>
        </p:nvSpPr>
        <p:spPr>
          <a:xfrm>
            <a:off x="8054300" y="2903390"/>
            <a:ext cx="2179800" cy="2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6000"/>
              <a:buFont typeface="Sora"/>
              <a:buNone/>
              <a:tabLst/>
              <a:defRPr/>
            </a:pPr>
            <a:r>
              <a:rPr kumimoji="0" lang="en" sz="10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04</a:t>
            </a:r>
            <a:endParaRPr kumimoji="0" lang="en" sz="10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cxnSp>
        <p:nvCxnSpPr>
          <p:cNvPr id="16" name="Google Shape;343;p32"/>
          <p:cNvCxnSpPr/>
          <p:nvPr/>
        </p:nvCxnSpPr>
        <p:spPr>
          <a:xfrm>
            <a:off x="7329200" y="5061542"/>
            <a:ext cx="3630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8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14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0500"/>
            <a:ext cx="17983200" cy="9989067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-609600" y="-1257300"/>
            <a:ext cx="1631476" cy="3227741"/>
          </a:xfrm>
          <a:custGeom>
            <a:avLst/>
            <a:gdLst/>
            <a:ahLst/>
            <a:cxnLst/>
            <a:rect l="l" t="t" r="r" b="b"/>
            <a:pathLst>
              <a:path w="1631476" h="3227741">
                <a:moveTo>
                  <a:pt x="0" y="0"/>
                </a:moveTo>
                <a:lnTo>
                  <a:pt x="1631477" y="0"/>
                </a:lnTo>
                <a:lnTo>
                  <a:pt x="1631477" y="3227741"/>
                </a:lnTo>
                <a:lnTo>
                  <a:pt x="0" y="32277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19794" y="8267700"/>
            <a:ext cx="2936412" cy="2827271"/>
          </a:xfrm>
          <a:custGeom>
            <a:avLst/>
            <a:gdLst/>
            <a:ahLst/>
            <a:cxnLst/>
            <a:rect l="l" t="t" r="r" b="b"/>
            <a:pathLst>
              <a:path w="2936412" h="2827271">
                <a:moveTo>
                  <a:pt x="0" y="0"/>
                </a:moveTo>
                <a:lnTo>
                  <a:pt x="2936412" y="0"/>
                </a:lnTo>
                <a:lnTo>
                  <a:pt x="2936412" y="2827271"/>
                </a:lnTo>
                <a:lnTo>
                  <a:pt x="0" y="282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121658" y="9285292"/>
            <a:ext cx="4634548" cy="396043"/>
          </a:xfrm>
          <a:custGeom>
            <a:avLst/>
            <a:gdLst/>
            <a:ahLst/>
            <a:cxnLst/>
            <a:rect l="l" t="t" r="r" b="b"/>
            <a:pathLst>
              <a:path w="4634548" h="396043">
                <a:moveTo>
                  <a:pt x="0" y="0"/>
                </a:moveTo>
                <a:lnTo>
                  <a:pt x="4634548" y="0"/>
                </a:lnTo>
                <a:lnTo>
                  <a:pt x="4634548" y="396043"/>
                </a:lnTo>
                <a:lnTo>
                  <a:pt x="0" y="3960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7772400" y="9434269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9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0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920269">
            <a:off x="13066203" y="-4196498"/>
            <a:ext cx="6226076" cy="8392995"/>
          </a:xfrm>
          <a:custGeom>
            <a:avLst/>
            <a:gdLst/>
            <a:ahLst/>
            <a:cxnLst/>
            <a:rect l="l" t="t" r="r" b="b"/>
            <a:pathLst>
              <a:path w="6226076" h="8392995">
                <a:moveTo>
                  <a:pt x="0" y="0"/>
                </a:moveTo>
                <a:lnTo>
                  <a:pt x="6226077" y="0"/>
                </a:lnTo>
                <a:lnTo>
                  <a:pt x="6226077" y="8392996"/>
                </a:lnTo>
                <a:lnTo>
                  <a:pt x="0" y="83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28800" y="5981700"/>
            <a:ext cx="6781906" cy="6529835"/>
          </a:xfrm>
          <a:custGeom>
            <a:avLst/>
            <a:gdLst/>
            <a:ahLst/>
            <a:cxnLst/>
            <a:rect l="l" t="t" r="r" b="b"/>
            <a:pathLst>
              <a:path w="6781906" h="6529835">
                <a:moveTo>
                  <a:pt x="0" y="0"/>
                </a:moveTo>
                <a:lnTo>
                  <a:pt x="6781905" y="0"/>
                </a:lnTo>
                <a:lnTo>
                  <a:pt x="6781905" y="6529835"/>
                </a:lnTo>
                <a:lnTo>
                  <a:pt x="0" y="6529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Google Shape;341;p32"/>
          <p:cNvSpPr txBox="1">
            <a:spLocks/>
          </p:cNvSpPr>
          <p:nvPr/>
        </p:nvSpPr>
        <p:spPr>
          <a:xfrm>
            <a:off x="2210462" y="5120700"/>
            <a:ext cx="13867475" cy="17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5000"/>
              <a:buFont typeface="Sora"/>
              <a:buNone/>
              <a:tabLst/>
              <a:defRPr/>
            </a:pPr>
            <a:r>
              <a:rPr kumimoji="0" lang="fr-FR" sz="9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Présentation du projet</a:t>
            </a:r>
            <a:endParaRPr kumimoji="0" lang="fr-FR" sz="9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15" name="Google Shape;342;p32"/>
          <p:cNvSpPr txBox="1">
            <a:spLocks/>
          </p:cNvSpPr>
          <p:nvPr/>
        </p:nvSpPr>
        <p:spPr>
          <a:xfrm>
            <a:off x="8054300" y="2903390"/>
            <a:ext cx="2179800" cy="2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6000"/>
              <a:buFont typeface="Sora"/>
              <a:buNone/>
              <a:tabLst/>
              <a:defRPr/>
            </a:pPr>
            <a:r>
              <a:rPr kumimoji="0" lang="en" sz="10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05</a:t>
            </a:r>
            <a:endParaRPr kumimoji="0" lang="en" sz="10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cxnSp>
        <p:nvCxnSpPr>
          <p:cNvPr id="16" name="Google Shape;343;p32"/>
          <p:cNvCxnSpPr/>
          <p:nvPr/>
        </p:nvCxnSpPr>
        <p:spPr>
          <a:xfrm>
            <a:off x="7329200" y="5061542"/>
            <a:ext cx="3630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10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91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920269">
            <a:off x="13066203" y="-4196498"/>
            <a:ext cx="6226076" cy="8392995"/>
          </a:xfrm>
          <a:custGeom>
            <a:avLst/>
            <a:gdLst/>
            <a:ahLst/>
            <a:cxnLst/>
            <a:rect l="l" t="t" r="r" b="b"/>
            <a:pathLst>
              <a:path w="6226076" h="8392995">
                <a:moveTo>
                  <a:pt x="0" y="0"/>
                </a:moveTo>
                <a:lnTo>
                  <a:pt x="6226077" y="0"/>
                </a:lnTo>
                <a:lnTo>
                  <a:pt x="6226077" y="8392996"/>
                </a:lnTo>
                <a:lnTo>
                  <a:pt x="0" y="839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28800" y="5981700"/>
            <a:ext cx="6781906" cy="6529835"/>
          </a:xfrm>
          <a:custGeom>
            <a:avLst/>
            <a:gdLst/>
            <a:ahLst/>
            <a:cxnLst/>
            <a:rect l="l" t="t" r="r" b="b"/>
            <a:pathLst>
              <a:path w="6781906" h="6529835">
                <a:moveTo>
                  <a:pt x="0" y="0"/>
                </a:moveTo>
                <a:lnTo>
                  <a:pt x="6781905" y="0"/>
                </a:lnTo>
                <a:lnTo>
                  <a:pt x="6781905" y="6529835"/>
                </a:lnTo>
                <a:lnTo>
                  <a:pt x="0" y="6529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Google Shape;341;p32"/>
          <p:cNvSpPr txBox="1">
            <a:spLocks/>
          </p:cNvSpPr>
          <p:nvPr/>
        </p:nvSpPr>
        <p:spPr>
          <a:xfrm>
            <a:off x="2210462" y="5120700"/>
            <a:ext cx="13867475" cy="17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5000"/>
              <a:buFont typeface="Sora"/>
              <a:buNone/>
              <a:tabLst/>
              <a:defRPr/>
            </a:pPr>
            <a:r>
              <a:rPr kumimoji="0" lang="fr-FR" sz="9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Conclusion</a:t>
            </a:r>
            <a:endParaRPr kumimoji="0" lang="fr-FR" sz="9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15" name="Google Shape;342;p32"/>
          <p:cNvSpPr txBox="1">
            <a:spLocks/>
          </p:cNvSpPr>
          <p:nvPr/>
        </p:nvSpPr>
        <p:spPr>
          <a:xfrm>
            <a:off x="8054300" y="2903390"/>
            <a:ext cx="2179800" cy="2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0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ora"/>
              <a:buNone/>
              <a:defRPr sz="1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6"/>
              </a:buClr>
              <a:buSzPts val="6000"/>
              <a:buFont typeface="Sora"/>
              <a:buNone/>
              <a:tabLst/>
              <a:defRPr/>
            </a:pPr>
            <a:r>
              <a:rPr kumimoji="0" lang="en" sz="10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06</a:t>
            </a:r>
            <a:endParaRPr kumimoji="0" lang="en" sz="10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cxnSp>
        <p:nvCxnSpPr>
          <p:cNvPr id="16" name="Google Shape;343;p32"/>
          <p:cNvCxnSpPr/>
          <p:nvPr/>
        </p:nvCxnSpPr>
        <p:spPr>
          <a:xfrm>
            <a:off x="7329200" y="5061542"/>
            <a:ext cx="3630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11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0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/>
          <p:cNvSpPr/>
          <p:nvPr/>
        </p:nvSpPr>
        <p:spPr>
          <a:xfrm rot="-1391761">
            <a:off x="-3843964" y="6485858"/>
            <a:ext cx="6062415" cy="8172373"/>
          </a:xfrm>
          <a:custGeom>
            <a:avLst/>
            <a:gdLst/>
            <a:ahLst/>
            <a:cxnLst/>
            <a:rect l="l" t="t" r="r" b="b"/>
            <a:pathLst>
              <a:path w="6062415" h="8172373">
                <a:moveTo>
                  <a:pt x="0" y="0"/>
                </a:moveTo>
                <a:lnTo>
                  <a:pt x="6062415" y="0"/>
                </a:lnTo>
                <a:lnTo>
                  <a:pt x="6062415" y="8172374"/>
                </a:lnTo>
                <a:lnTo>
                  <a:pt x="0" y="8172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625631" y="-1430243"/>
            <a:ext cx="7324738" cy="7052491"/>
          </a:xfrm>
          <a:custGeom>
            <a:avLst/>
            <a:gdLst/>
            <a:ahLst/>
            <a:cxnLst/>
            <a:rect l="l" t="t" r="r" b="b"/>
            <a:pathLst>
              <a:path w="7324738" h="7052491">
                <a:moveTo>
                  <a:pt x="0" y="0"/>
                </a:moveTo>
                <a:lnTo>
                  <a:pt x="7324738" y="0"/>
                </a:lnTo>
                <a:lnTo>
                  <a:pt x="7324738" y="7052491"/>
                </a:lnTo>
                <a:lnTo>
                  <a:pt x="0" y="7052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95665" y="8375138"/>
            <a:ext cx="2281713" cy="2196906"/>
          </a:xfrm>
          <a:custGeom>
            <a:avLst/>
            <a:gdLst/>
            <a:ahLst/>
            <a:cxnLst/>
            <a:rect l="l" t="t" r="r" b="b"/>
            <a:pathLst>
              <a:path w="2281713" h="2196906">
                <a:moveTo>
                  <a:pt x="0" y="0"/>
                </a:moveTo>
                <a:lnTo>
                  <a:pt x="2281714" y="0"/>
                </a:lnTo>
                <a:lnTo>
                  <a:pt x="2281714" y="2196907"/>
                </a:lnTo>
                <a:lnTo>
                  <a:pt x="0" y="2196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Google Shape;630;p47"/>
          <p:cNvSpPr txBox="1">
            <a:spLocks/>
          </p:cNvSpPr>
          <p:nvPr/>
        </p:nvSpPr>
        <p:spPr>
          <a:xfrm>
            <a:off x="3731463" y="3543300"/>
            <a:ext cx="10745581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tabLst/>
              <a:defRPr/>
            </a:pPr>
            <a:r>
              <a:rPr kumimoji="0" lang="fr-FR" sz="9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ra"/>
                <a:cs typeface="Sora"/>
                <a:sym typeface="Sora"/>
              </a:rPr>
              <a:t>Merci pour votre attention</a:t>
            </a:r>
            <a:endParaRPr kumimoji="0" lang="fr-FR" sz="9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ra"/>
              <a:cs typeface="Sora"/>
              <a:sym typeface="Sora"/>
            </a:endParaRPr>
          </a:p>
        </p:txBody>
      </p:sp>
      <p:sp>
        <p:nvSpPr>
          <p:cNvPr id="7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077200" y="9399910"/>
            <a:ext cx="2133600" cy="494131"/>
          </a:xfrm>
        </p:spPr>
        <p:txBody>
          <a:bodyPr/>
          <a:lstStyle/>
          <a:p>
            <a:pPr algn="ctr"/>
            <a:fld id="{B6F15528-21DE-4FAA-801E-634DDDAF4B2B}" type="slidenum">
              <a:rPr lang="en-US" sz="2400" smtClean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pPr algn="ctr"/>
              <a:t>12</a:t>
            </a:fld>
            <a:endParaRPr lang="en-US" sz="2400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113</Words>
  <Application>Microsoft Office PowerPoint</Application>
  <PresentationFormat>Personnalisé</PresentationFormat>
  <Paragraphs>58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Calibri</vt:lpstr>
      <vt:lpstr>Cabin</vt:lpstr>
      <vt:lpstr>Arial</vt:lpstr>
      <vt:lpstr>Sora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Marron et Orange Neutre Délicat Bio Mode Marketing Présentation</dc:title>
  <cp:lastModifiedBy>hp</cp:lastModifiedBy>
  <cp:revision>14</cp:revision>
  <dcterms:created xsi:type="dcterms:W3CDTF">2006-08-16T00:00:00Z</dcterms:created>
  <dcterms:modified xsi:type="dcterms:W3CDTF">2024-06-05T16:35:54Z</dcterms:modified>
  <dc:identifier>DAGHGZsphuo</dc:identifier>
</cp:coreProperties>
</file>